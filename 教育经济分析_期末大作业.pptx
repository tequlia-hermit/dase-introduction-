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ASUS\Desktop\DaSE&#22823;&#20316;&#19994;\DPshee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defRPr>
            </a:pPr>
            <a:r>
              <a:rPr u="none" strike="noStrike" cap="none" normalizeH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</a:rPr>
              <a:t>洛伦兹曲线</a:t>
            </a:r>
            <a:endParaRPr u="none" strike="noStrike" cap="none" normalizeH="0">
              <a:solidFill>
                <a:schemeClr val="tx1"/>
              </a:solidFill>
              <a:uFill>
                <a:solidFill>
                  <a:schemeClr val="tx1"/>
                </a:solidFill>
              </a:u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18804182679417"/>
          <c:y val="0.0827324432070257"/>
          <c:w val="0.922326886461569"/>
          <c:h val="0.792724014336918"/>
        </c:manualLayout>
      </c:layout>
      <c:scatterChart>
        <c:scatterStyle val="smooth"/>
        <c:varyColors val="0"/>
        <c:ser>
          <c:idx val="0"/>
          <c:order val="0"/>
          <c:tx>
            <c:strRef>
              <c:f>"数据"</c:f>
              <c:strCache>
                <c:ptCount val="1"/>
                <c:pt idx="0">
                  <c:v>数据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xVal>
            <c:numRef>
              <c:f>[DPsheets.xlsx]公平性!$E$2:$E$31</c:f>
              <c:numCache>
                <c:formatCode>General</c:formatCode>
                <c:ptCount val="30"/>
                <c:pt idx="0">
                  <c:v>6.976429152</c:v>
                </c:pt>
                <c:pt idx="1">
                  <c:v>10.295312923</c:v>
                </c:pt>
                <c:pt idx="2">
                  <c:v>15.555618931</c:v>
                </c:pt>
                <c:pt idx="3">
                  <c:v>18.765418016</c:v>
                </c:pt>
                <c:pt idx="4">
                  <c:v>23.130944403</c:v>
                </c:pt>
                <c:pt idx="5">
                  <c:v>26.705072082</c:v>
                </c:pt>
                <c:pt idx="6">
                  <c:v>29.457143265</c:v>
                </c:pt>
                <c:pt idx="7">
                  <c:v>34.119265925</c:v>
                </c:pt>
                <c:pt idx="8">
                  <c:v>43.231045645</c:v>
                </c:pt>
                <c:pt idx="9">
                  <c:v>50.417801481</c:v>
                </c:pt>
                <c:pt idx="10">
                  <c:v>56.381097692</c:v>
                </c:pt>
                <c:pt idx="11">
                  <c:v>57.128292148</c:v>
                </c:pt>
                <c:pt idx="12">
                  <c:v>63.207089792</c:v>
                </c:pt>
                <c:pt idx="13">
                  <c:v>65.663990646</c:v>
                </c:pt>
                <c:pt idx="14">
                  <c:v>66.183747095</c:v>
                </c:pt>
                <c:pt idx="15">
                  <c:v>70.939269062</c:v>
                </c:pt>
                <c:pt idx="16">
                  <c:v>75.098746596</c:v>
                </c:pt>
                <c:pt idx="17">
                  <c:v>78.088237392</c:v>
                </c:pt>
                <c:pt idx="18">
                  <c:v>80.247829002</c:v>
                </c:pt>
                <c:pt idx="19">
                  <c:v>80.670621285</c:v>
                </c:pt>
                <c:pt idx="20">
                  <c:v>82.373197965</c:v>
                </c:pt>
                <c:pt idx="21">
                  <c:v>84.647578036</c:v>
                </c:pt>
                <c:pt idx="22">
                  <c:v>87.465955597</c:v>
                </c:pt>
                <c:pt idx="23">
                  <c:v>89.218440304</c:v>
                </c:pt>
                <c:pt idx="24">
                  <c:v>92.180838171</c:v>
                </c:pt>
                <c:pt idx="25">
                  <c:v>94.050963226</c:v>
                </c:pt>
                <c:pt idx="26">
                  <c:v>95.819133313</c:v>
                </c:pt>
                <c:pt idx="27">
                  <c:v>96.791626861</c:v>
                </c:pt>
                <c:pt idx="28">
                  <c:v>98.443582543</c:v>
                </c:pt>
                <c:pt idx="29">
                  <c:v>100.000000002</c:v>
                </c:pt>
              </c:numCache>
            </c:numRef>
          </c:xVal>
          <c:yVal>
            <c:numRef>
              <c:f>[DPsheets.xlsx]公平性!$F$2:$F$31</c:f>
              <c:numCache>
                <c:formatCode>General</c:formatCode>
                <c:ptCount val="30"/>
                <c:pt idx="0">
                  <c:v>1.367545467</c:v>
                </c:pt>
                <c:pt idx="1">
                  <c:v>2.988862258</c:v>
                </c:pt>
                <c:pt idx="2">
                  <c:v>4.624277456</c:v>
                </c:pt>
                <c:pt idx="3">
                  <c:v>6.569857605</c:v>
                </c:pt>
                <c:pt idx="4">
                  <c:v>8.529536161</c:v>
                </c:pt>
                <c:pt idx="5">
                  <c:v>10.489214717</c:v>
                </c:pt>
                <c:pt idx="6">
                  <c:v>12.64627097</c:v>
                </c:pt>
                <c:pt idx="7">
                  <c:v>15.028901733</c:v>
                </c:pt>
                <c:pt idx="8">
                  <c:v>17.411532496</c:v>
                </c:pt>
                <c:pt idx="9">
                  <c:v>19.8787537</c:v>
                </c:pt>
                <c:pt idx="10">
                  <c:v>22.374171718</c:v>
                </c:pt>
                <c:pt idx="11">
                  <c:v>24.982376991</c:v>
                </c:pt>
                <c:pt idx="12">
                  <c:v>27.632877484</c:v>
                </c:pt>
                <c:pt idx="13">
                  <c:v>30.311574791</c:v>
                </c:pt>
                <c:pt idx="14">
                  <c:v>33.187649795</c:v>
                </c:pt>
                <c:pt idx="15">
                  <c:v>36.37388975</c:v>
                </c:pt>
                <c:pt idx="16">
                  <c:v>39.588326519</c:v>
                </c:pt>
                <c:pt idx="17">
                  <c:v>42.873255322</c:v>
                </c:pt>
                <c:pt idx="18">
                  <c:v>46.341463414</c:v>
                </c:pt>
                <c:pt idx="19">
                  <c:v>50.035246017</c:v>
                </c:pt>
                <c:pt idx="20">
                  <c:v>53.757225433</c:v>
                </c:pt>
                <c:pt idx="21">
                  <c:v>57.535598477</c:v>
                </c:pt>
                <c:pt idx="22">
                  <c:v>61.708726913</c:v>
                </c:pt>
                <c:pt idx="23">
                  <c:v>65.881855349</c:v>
                </c:pt>
                <c:pt idx="24">
                  <c:v>70.252361482</c:v>
                </c:pt>
                <c:pt idx="25">
                  <c:v>74.918934159</c:v>
                </c:pt>
                <c:pt idx="26">
                  <c:v>80.036655856</c:v>
                </c:pt>
                <c:pt idx="27">
                  <c:v>85.549132946</c:v>
                </c:pt>
                <c:pt idx="28">
                  <c:v>92.17538418</c:v>
                </c:pt>
                <c:pt idx="29">
                  <c:v>99.999999998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"绝对公平线"</c:f>
              <c:strCache>
                <c:ptCount val="1"/>
                <c:pt idx="0">
                  <c:v>绝对公平线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xVal>
            <c:numRef>
              <c:f>([DPsheets.xlsx]公平性!$E$31,[DPsheets.xlsx]公平性!$E$32)</c:f>
              <c:numCache>
                <c:formatCode>General</c:formatCode>
                <c:ptCount val="2"/>
                <c:pt idx="0">
                  <c:v>100.000000002</c:v>
                </c:pt>
                <c:pt idx="1">
                  <c:v>0</c:v>
                </c:pt>
              </c:numCache>
            </c:numRef>
          </c:xVal>
          <c:yVal>
            <c:numRef>
              <c:f>([DPsheets.xlsx]公平性!$F$31,[DPsheets.xlsx]公平性!$F$32)</c:f>
              <c:numCache>
                <c:formatCode>General</c:formatCode>
                <c:ptCount val="2"/>
                <c:pt idx="0">
                  <c:v>99.999999998</c:v>
                </c:pt>
                <c:pt idx="1">
                  <c:v>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5762270"/>
        <c:axId val="268226997"/>
      </c:scatterChart>
      <c:valAx>
        <c:axId val="785762270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68226997"/>
        <c:crosses val="autoZero"/>
        <c:crossBetween val="midCat"/>
      </c:valAx>
      <c:valAx>
        <c:axId val="268226997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785762270"/>
        <c:crosses val="autoZero"/>
        <c:crossBetween val="midCat"/>
      </c:valAx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cap="none" spc="0" normalizeH="0" baseline="0">
              <a:solidFill>
                <a:schemeClr val="tx1"/>
              </a:solidFill>
              <a:uFill>
                <a:solidFill>
                  <a:schemeClr val="tx1"/>
                </a:solidFill>
              </a:u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582a698-27c6-47ff-b766-a8c9869a7517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u="none" strike="noStrike" kern="1200" cap="none" spc="0" normalizeH="0">
          <a:solidFill>
            <a:schemeClr val="tx1"/>
          </a:solidFill>
          <a:uFill>
            <a:solidFill>
              <a:schemeClr val="tx1"/>
            </a:solidFill>
          </a:u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9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lang="zh-CN" altLang="en-US"/>
              <a:t>中国高等教育机会的经济效应分析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基于2024年各省经济、人口与录取数据的相关性研究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7165" y="5697855"/>
            <a:ext cx="6388735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数据科学与工程导论 · 期末大作业 · 华东师范大学数据科学与工程学院</a:t>
            </a:r>
            <a:r>
              <a:rPr lang="en-US"/>
              <a:t> </a:t>
            </a:r>
            <a:r>
              <a:rPr lang="zh-CN"/>
              <a:t>尚金朝</a:t>
            </a:r>
            <a:r>
              <a:rPr lang="en-US" altLang="zh-CN"/>
              <a:t> 10245501440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二、研究问题与意义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核心研究问题：</a:t>
            </a:r>
          </a:p>
          <a:p>
            <a:pPr>
              <a:spcBef>
                <a:spcPts val="1200"/>
              </a:spcBef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1. 经济影响多大？——人均GDP每增加1万元，985录取率提高多少？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2. 资源配置多公平？——北京和河南学生上985的机会相差多少倍？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3. 投入效率多高？——为何吉林教育产出比广东高？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研究意义：为教育政策制定提供数据支撑，促进教育公平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三、数据基础与指标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数据来源：国家统计局 + 各省教育厅（2024年最新数据）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数据构成：</a:t>
            </a:r>
          </a:p>
          <a:p>
            <a:pPr>
              <a:spcBef>
                <a:spcPts val="1200"/>
              </a:spcBef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• 经济数据：GDP总量、人均GDP、教育经费</a:t>
            </a:r>
          </a:p>
          <a:p>
            <a:pPr>
              <a:spcBef>
                <a:spcPts val="1200"/>
              </a:spcBef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• 人口数据：常住人口、出生率</a:t>
            </a:r>
          </a:p>
          <a:p>
            <a:pPr>
              <a:spcBef>
                <a:spcPts val="1200"/>
              </a:spcBef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• 教育数据：985/211/双一流录取率（30省）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数据质量：已清洗验证，排除异常值，维度完整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四、经济发展与教育机会关联</a:t>
            </a:r>
          </a:p>
        </p:txBody>
      </p:sp>
      <p:pic>
        <p:nvPicPr>
          <p:cNvPr id="4" name="Picture 3" descr="economic_education_corre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核心发现：人均GDP与985录取率相关系数r=0.5189，经济解释约27%的录取率差异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五、教育投入产出效率分析</a:t>
            </a:r>
          </a:p>
        </p:txBody>
      </p:sp>
      <p:pic>
        <p:nvPicPr>
          <p:cNvPr id="4" name="Picture 3" descr="education_efficiency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效率排名：北京(1.286)、上海(1.053)最高；贵州(0.321)、河南(0.356)最低 | 吉林现象：低投入高产出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六、高等教育机会公平性分析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1755" y="5486400"/>
            <a:ext cx="407035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基尼系数G=0.4418（超过0.4警戒线</a:t>
            </a:r>
          </a:p>
        </p:txBody>
      </p:sp>
      <p:graphicFrame>
        <p:nvGraphicFramePr>
          <p:cNvPr id="2" name="图表 1"/>
          <p:cNvGraphicFramePr/>
          <p:nvPr/>
        </p:nvGraphicFramePr>
        <p:xfrm>
          <a:off x="1019493" y="1251268"/>
          <a:ext cx="7105015" cy="4355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七、区域对比与异常案例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典型省份异常分析：</a:t>
            </a:r>
          </a:p>
          <a:p>
            <a:pPr>
              <a:spcBef>
                <a:spcPts val="1200"/>
              </a:spcBef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1. 河南难题：人口9936万（第3），985录取率1.12%（垫底）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2. 广东困境：GDP13.7万亿（第1），985录取率1.32%（倒数5）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3. 吉林现象：GDP1.44万亿（第26），985录取率4.70%（第5）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政策影响：新疆、青海等边疆地区录取率相对较高（政策倾斜）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八、人口因素对教育机会的影响</a:t>
            </a:r>
          </a:p>
        </p:txBody>
      </p:sp>
      <p:pic>
        <p:nvPicPr>
          <p:cNvPr id="4" name="Picture 3" descr="population_factor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人口压力指数：河南(8870)、河北(6360)最大；青海(226)、天津(349)最小 | 人口规模与录取率负相关r=-0.32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九、主要结论与政策建议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核心发现：</a:t>
            </a:r>
          </a:p>
          <a:p>
            <a:pPr>
              <a:spcBef>
                <a:spcPts val="1200"/>
              </a:spcBef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1. 经济影响显著：相关系数r=0.5189，经济解释27%录取率差异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2. 公平问题突出：基尼系数G=0.4418，超过不公平警戒线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3. 效率差异明显：省份间效率比值相差4.02倍</a:t>
            </a: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</a:p>
          <a:p>
            <a:pPr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政策启示：</a:t>
            </a:r>
          </a:p>
          <a:p>
            <a:pPr>
              <a:spcBef>
                <a:spcPts val="1200"/>
              </a:spcBef>
              <a:defRPr sz="140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• 资源向人口大省倾斜 • 推广吉林高效模式 • 建立跨省协调机制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57183"/>
            <a:ext cx="8229600" cy="1143000"/>
          </a:xfrm>
        </p:spPr>
        <p:txBody>
          <a:bodyPr/>
          <a:p>
            <a:r>
              <a:rPr 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感谢</a:t>
            </a:r>
            <a:r>
              <a:rPr 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观看</a:t>
            </a:r>
            <a:endParaRPr lang="zh-CN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WPS 演示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数字背后的教育天平：中国高等教育机会的经济梯度效应分析</vt:lpstr>
      <vt:lpstr>二、研究问题与意义</vt:lpstr>
      <vt:lpstr>三、数据基础与指标</vt:lpstr>
      <vt:lpstr>PowerPoint 演示文稿</vt:lpstr>
      <vt:lpstr>PowerPoint 演示文稿</vt:lpstr>
      <vt:lpstr>PowerPoint 演示文稿</vt:lpstr>
      <vt:lpstr>七、区域对比与异常案例</vt:lpstr>
      <vt:lpstr>PowerPoint 演示文稿</vt:lpstr>
      <vt:lpstr>九、主要结论与政策建议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WPS_1720538958</cp:lastModifiedBy>
  <cp:revision>3</cp:revision>
  <dcterms:created xsi:type="dcterms:W3CDTF">2013-01-27T09:14:00Z</dcterms:created>
  <dcterms:modified xsi:type="dcterms:W3CDTF">2026-01-05T11:53:48Z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F22D2A62FE1E4A9E9B0C5E31305007FB_12</vt:lpwstr>
  </property>
  <property fmtid="{D5CDD505-2E9C-101B-9397-08002B2CF9AE}" pid="3" name="KSOProductBuildVer">
    <vt:lpwstr>2052-12.1.0.22529</vt:lpwstr>
  </property>
</Properties>
</file>